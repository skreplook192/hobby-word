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dfe0a501844157" /><Relationship Type="http://schemas.openxmlformats.org/officeDocument/2006/relationships/extended-properties" Target="/docProps/app.xml" Id="R73d8cb60b2854eab" /><Relationship Type="http://schemas.openxmlformats.org/officeDocument/2006/relationships/officeDocument" Target="/ppt/presentation.xml" Id="R4c1876094dee46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316ff932714822"/>
  </p:sldMasterIdLst>
  <p:notesMasterIdLst>
    <p:notesMasterId xmlns:r="http://schemas.openxmlformats.org/officeDocument/2006/relationships" r:id="Rf5cf73139714419f"/>
  </p:notesMasterIdLst>
  <p:sldIdLst>
    <p:sldId xmlns:r="http://schemas.openxmlformats.org/officeDocument/2006/relationships" id="256" r:id="R7afe88b4df3542cd"/>
    <p:sldId xmlns:r="http://schemas.openxmlformats.org/officeDocument/2006/relationships" id="257" r:id="Re47d01362f6b4240"/>
    <p:sldId xmlns:r="http://schemas.openxmlformats.org/officeDocument/2006/relationships" id="258" r:id="Rb05c14e8bd7a4574"/>
    <p:sldId xmlns:r="http://schemas.openxmlformats.org/officeDocument/2006/relationships" id="259" r:id="R3f99b1ffffe2447c"/>
    <p:sldId xmlns:r="http://schemas.openxmlformats.org/officeDocument/2006/relationships" id="260" r:id="R5d0a2047f8184b5c"/>
    <p:sldId xmlns:r="http://schemas.openxmlformats.org/officeDocument/2006/relationships" id="261" r:id="R484362a21a204dfb"/>
    <p:sldId xmlns:r="http://schemas.openxmlformats.org/officeDocument/2006/relationships" id="262" r:id="R024e3bf138db4c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13a37c0a9c476d" /><Relationship Type="http://schemas.openxmlformats.org/officeDocument/2006/relationships/slideMaster" Target="/ppt/slideMasters/slideMaster1.xml" Id="R67316ff932714822" /><Relationship Type="http://schemas.openxmlformats.org/officeDocument/2006/relationships/notesMaster" Target="/ppt/notesMasters/notesMaster1.xml" Id="Rf5cf73139714419f" /><Relationship Type="http://schemas.openxmlformats.org/officeDocument/2006/relationships/presProps" Target="/ppt/presProps.xml" Id="R1b062cd0df0e4e0b" /><Relationship Type="http://schemas.openxmlformats.org/officeDocument/2006/relationships/tableStyles" Target="/ppt/tableStyles.xml" Id="R56f10b9afca0432c" /><Relationship Type="http://schemas.openxmlformats.org/officeDocument/2006/relationships/slide" Target="/ppt/slides/slide1.xml" Id="R7afe88b4df3542cd" /><Relationship Type="http://schemas.openxmlformats.org/officeDocument/2006/relationships/slide" Target="/ppt/slides/slide2.xml" Id="Re47d01362f6b4240" /><Relationship Type="http://schemas.openxmlformats.org/officeDocument/2006/relationships/slide" Target="/ppt/slides/slide3.xml" Id="Rb05c14e8bd7a4574" /><Relationship Type="http://schemas.openxmlformats.org/officeDocument/2006/relationships/slide" Target="/ppt/slides/slide4.xml" Id="R3f99b1ffffe2447c" /><Relationship Type="http://schemas.openxmlformats.org/officeDocument/2006/relationships/slide" Target="/ppt/slides/slide5.xml" Id="R5d0a2047f8184b5c" /><Relationship Type="http://schemas.openxmlformats.org/officeDocument/2006/relationships/slide" Target="/ppt/slides/slide6.xml" Id="R484362a21a204dfb" /><Relationship Type="http://schemas.openxmlformats.org/officeDocument/2006/relationships/slide" Target="/ppt/slides/slide7.xml" Id="R024e3bf138db4c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e5355f1bac49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obby Worlds">
      <a:dk1>
        <a:srgbClr val="101010"/>
      </a:dk1>
      <a:lt1>
        <a:srgbClr val="FFFFFF"/>
      </a:lt1>
      <a:dk2>
        <a:srgbClr val="101010"/>
      </a:dk2>
      <a:lt2>
        <a:srgbClr val="F5F5F5"/>
      </a:lt2>
      <a:accent1>
        <a:srgbClr val="A67C32"/>
      </a:accent1>
      <a:accent2>
        <a:srgbClr val="101010"/>
      </a:accent2>
      <a:accent3>
        <a:srgbClr val="FFFFFF"/>
      </a:accent3>
      <a:accent4>
        <a:srgbClr val="A67C32"/>
      </a:accent4>
      <a:accent5>
        <a:srgbClr val="101010"/>
      </a:accent5>
      <a:accent6>
        <a:srgbClr val="FFFFFF"/>
      </a:accent6>
      <a:hlink>
        <a:srgbClr val="A67C32"/>
      </a:hlink>
      <a:folHlink>
        <a:srgbClr val="A67C3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Hobby World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88b85a5e8d4583" /><Relationship Type="http://schemas.openxmlformats.org/officeDocument/2006/relationships/notesMaster" Target="/ppt/notesMasters/notesMaster1.xml" Id="R82bb8280f7a549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fd4b0b908840c1" /><Relationship Type="http://schemas.openxmlformats.org/officeDocument/2006/relationships/notesMaster" Target="/ppt/notesMasters/notesMaster1.xml" Id="Rdf054b7c881b4a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c3a990b0074a82" /><Relationship Type="http://schemas.openxmlformats.org/officeDocument/2006/relationships/notesMaster" Target="/ppt/notesMasters/notesMaster1.xml" Id="R38954a74b59340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9d9563d4fe4f55" /><Relationship Type="http://schemas.openxmlformats.org/officeDocument/2006/relationships/notesMaster" Target="/ppt/notesMasters/notesMaster1.xml" Id="Rca223574201343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b0ff05935748d0" /><Relationship Type="http://schemas.openxmlformats.org/officeDocument/2006/relationships/notesMaster" Target="/ppt/notesMasters/notesMaster1.xml" Id="R7bd123072b4844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0c3e00d9cc488b" /><Relationship Type="http://schemas.openxmlformats.org/officeDocument/2006/relationships/notesMaster" Target="/ppt/notesMasters/notesMaster1.xml" Id="R9b3a8b6ce65f44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384ebce6184b25" /><Relationship Type="http://schemas.openxmlformats.org/officeDocument/2006/relationships/notesMaster" Target="/ppt/notesMasters/notesMaster1.xml" Id="R90abd624b6224f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Козлов Даниил</a:t>
            </a:r>
          </a:p>
          <a:p xmlns:a="http://schemas.openxmlformats.org/drawingml/2006/main">
            <a:r>
              <a:t>Мы представляем Hobby Worlds, социально-игровое мобильное приложение для людей, которые хотят начать новое увлечение и найти компанию. Для первой практической работы мы разработали бренд проекта: название, слоган, уникальное торговое предложение, визуальный стиль и прототип логотипа.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пояснения</a:t>
            </a:r>
          </a:p>
          <a:p xmlns:a="http://schemas.openxmlformats.org/drawingml/2006/main">
            <a:r>
              <a:t>Практическое занятие №1. Стартап в информационных технологиях. Тема: Товарный знак и брендирование. Преподаватель: Адышкин Сергей Сергеевич. Файл предоставлен командой.</a:t>
            </a:r>
          </a:p>
          <a:p xmlns:a="http://schemas.openxmlformats.org/drawingml/2006/main">
            <a:r>
              <a:t>Логотип: выбранный командой эскиз.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Козлов Даниил</a:t>
            </a:r>
          </a:p>
          <a:p xmlns:a="http://schemas.openxmlformats.org/drawingml/2006/main">
            <a:r>
              <a:t>Наша аудитория — люди, которые давно хотят попробовать новое хобби, но откладывают первый шаг. Им бывает непонятно, с чего начать, не хватает единомышленников или регулярности. Для них мы создаём Hobby Worlds, которое помогает найти компанию и перейти к занятиям. В отличие от поиска материалов и общения в отдельных чатах, концепция объединяет сообщества по интересам, совместные цели и игровые достижения. Пользователь выбирает увлечение, присоединяется к сообществу и отмечает свой прогресс.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пояснения</a:t>
            </a:r>
          </a:p>
          <a:p xmlns:a="http://schemas.openxmlformats.org/drawingml/2006/main">
            <a:r>
              <a:t>Описание приложения предоставила команда. УТП сформулировано по шаблону практической работы. Функции отражают концепцию, а не заявление о готовой реализации.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Козлов Даниил</a:t>
            </a:r>
          </a:p>
          <a:p xmlns:a="http://schemas.openxmlformats.org/drawingml/2006/main">
            <a:r>
              <a:t>Название Hobby Worlds передаёт идею общего мира разных увлечений. Слоган Explore. Meet. Grow. описывает путь пользователя: открывай новое, знакомься и развивайся. Характер бренда — современный, спокойный и дружелюбный. В общении мы обращаемся на «ты» и поддерживаем первые шаги. Например: «Начни с малого — здесь есть люди с похожими интересами».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Ковалев Данила</a:t>
            </a:r>
          </a:p>
          <a:p xmlns:a="http://schemas.openxmlformats.org/drawingml/2006/main">
            <a:r>
              <a:t>В основе логотипа — Земля с узнаваемыми материками. Она обозначает общий мир людей и увлечений. Мы используем чёрный, белый и тёмную охру. Охра выделяет знак и важные действия, а чёрный и белый формируют две темы оформления. Для заголовков выбрали Inter Medium, для основного текста — Inter Regular. Оба начертания поддерживают кириллицу и латиницу.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пояснения</a:t>
            </a:r>
          </a:p>
          <a:p xmlns:a="http://schemas.openxmlformats.org/drawingml/2006/main">
            <a:r>
              <a:t>Шрифт: https://rsms.me/inter/</a:t>
            </a:r>
          </a:p>
          <a:p xmlns:a="http://schemas.openxmlformats.org/drawingml/2006/main">
            <a:r>
              <a:t>Поддержка письменностей: https://raw.githubusercontent.com/google/fonts/main/ofl/inter/METADATA.pb</a:t>
            </a:r>
          </a:p>
          <a:p xmlns:a="http://schemas.openxmlformats.org/drawingml/2006/main">
            <a:r>
              <a:t>Логотип: эскиз, выбранный командой.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Ковалев Данила</a:t>
            </a:r>
          </a:p>
          <a:p xmlns:a="http://schemas.openxmlformats.org/drawingml/2006/main">
            <a:r>
              <a:t>Здесь показаны примеры применения: иконка мобильного приложения в двух темах и баннер. В иконке используем только Землю, чтобы знак оставался заметным в небольшом размере. В баннере добавляем название, слоган и приглашение начать. Цвет охры и начертания шрифта сохраняем одинаковыми во всех материалах.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пояснения</a:t>
            </a:r>
          </a:p>
          <a:p xmlns:a="http://schemas.openxmlformats.org/drawingml/2006/main">
            <a:r>
              <a:t>Иконки и баннер показывают применение выбранного логотипа. Это образцы фирменного стиля, а не скриншоты работающего приложения.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Ковалев Данила</a:t>
            </a:r>
          </a:p>
          <a:p xmlns:a="http://schemas.openxmlformats.org/drawingml/2006/main">
            <a:r>
              <a:t>На итоговом слайде мы объединили все элементы бренда. При сравнении аналогов обратили внимание на игровую мотивацию Habitica и поиск сообществ в Meetup. Для Hobby Worlds выбрали акцент на старте нового увлечения вместе с единомышленниками. Логотип, слоган и примеры оформления поддерживают эту идею. Спасибо за внимание.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Практическое занятие №1. Стартап в информационных технологиях. Тема: Товарный знак и брендирование. Преподаватель: Адышкин Сергей Сергеевич. Файл предоставлен командой.</a:t>
            </a:r>
          </a:p>
          <a:p xmlns:a="http://schemas.openxmlformats.org/drawingml/2006/main">
            <a:r>
              <a:t>Шрифты: https://rsms.me/inter/</a:t>
            </a:r>
          </a:p>
          <a:p xmlns:a="http://schemas.openxmlformats.org/drawingml/2006/main">
            <a:r>
              <a:t>https://raw.githubusercontent.com/google/fonts/main/ofl/inter/METADATA.pb</a:t>
            </a:r>
          </a:p>
          <a:p xmlns:a="http://schemas.openxmlformats.org/drawingml/2006/main">
            <a:r>
              <a:t>Логотип: выбранный командой эскиз, разработанный с помощью генератора изображений. Концепция функций согласована в рамках учебного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пояснения</a:t>
            </a:r>
          </a:p>
          <a:p xmlns:a="http://schemas.openxmlformats.org/drawingml/2006/main">
            <a:r>
              <a:t>Habitica: https://play.google.com/store/apps/details?id=com.habitrpg.android.habitica&amp;hl=en</a:t>
            </a:r>
          </a:p>
          <a:p xmlns:a="http://schemas.openxmlformats.org/drawingml/2006/main">
            <a:r>
              <a:t>Meetup: https://www.meetup.com/</a:t>
            </a:r>
          </a:p>
          <a:p xmlns:a="http://schemas.openxmlformats.org/drawingml/2006/main">
            <a:r>
              <a:t>Дизайн Meetup: https://www.meetup.com/blog/new-design-2025/</a:t>
            </a:r>
          </a:p>
          <a:p xmlns:a="http://schemas.openxmlformats.org/drawingml/2006/main">
            <a:r>
              <a:t>Дата обращения: 11 сентября 2026. Сравниваются направления позиционирования и визуальный стиль, а не полный набор функций. Акцент Hobby Worlds относится к концепции команды и не доказывает отсутствие аналогов.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41efd25d724c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f0638c12094f39" /><Relationship Type="http://schemas.openxmlformats.org/officeDocument/2006/relationships/slideLayout" Target="/ppt/slideLayouts/slideLayout1.xml" Id="Rb83817def25248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3817def25248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obby Worlds">
      <a:dk1>
        <a:srgbClr val="101010"/>
      </a:dk1>
      <a:lt1>
        <a:srgbClr val="FFFFFF"/>
      </a:lt1>
      <a:dk2>
        <a:srgbClr val="101010"/>
      </a:dk2>
      <a:lt2>
        <a:srgbClr val="F5F5F5"/>
      </a:lt2>
      <a:accent1>
        <a:srgbClr val="A67C32"/>
      </a:accent1>
      <a:accent2>
        <a:srgbClr val="101010"/>
      </a:accent2>
      <a:accent3>
        <a:srgbClr val="FFFFFF"/>
      </a:accent3>
      <a:accent4>
        <a:srgbClr val="A67C32"/>
      </a:accent4>
      <a:accent5>
        <a:srgbClr val="101010"/>
      </a:accent5>
      <a:accent6>
        <a:srgbClr val="FFFFFF"/>
      </a:accent6>
      <a:hlink>
        <a:srgbClr val="A67C32"/>
      </a:hlink>
      <a:folHlink>
        <a:srgbClr val="A67C3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Hobby World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bb86453ba49df" /><Relationship Type="http://schemas.openxmlformats.org/officeDocument/2006/relationships/image" Target="/ppt/media/image.png" Id="R639ec9edfbfa4c4e" /><Relationship Type="http://schemas.openxmlformats.org/officeDocument/2006/relationships/notesSlide" Target="/ppt/notesSlides/notesSlide1.xml" Id="R1d96fb0b982e4a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6f6388383437f" /><Relationship Type="http://schemas.openxmlformats.org/officeDocument/2006/relationships/notesSlide" Target="/ppt/notesSlides/notesSlide2.xml" Id="R2f752f4d281b41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2b835c9d84ab0" /><Relationship Type="http://schemas.openxmlformats.org/officeDocument/2006/relationships/notesSlide" Target="/ppt/notesSlides/notesSlide3.xml" Id="Rbd79551827ef45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0a933b1234b43" /><Relationship Type="http://schemas.openxmlformats.org/officeDocument/2006/relationships/image" Target="/ppt/media/image2.png" Id="Rce6d24b5fe3f47eb" /><Relationship Type="http://schemas.openxmlformats.org/officeDocument/2006/relationships/image" Target="/ppt/media/image3.png" Id="R3bb3746b44654241" /><Relationship Type="http://schemas.openxmlformats.org/officeDocument/2006/relationships/notesSlide" Target="/ppt/notesSlides/notesSlide4.xml" Id="R37db13ad541145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c90dba1c14c71" /><Relationship Type="http://schemas.openxmlformats.org/officeDocument/2006/relationships/image" Target="/ppt/media/image4.png" Id="R1762a45446f849cc" /><Relationship Type="http://schemas.openxmlformats.org/officeDocument/2006/relationships/image" Target="/ppt/media/image5.png" Id="Rf660403368ad4a86" /><Relationship Type="http://schemas.openxmlformats.org/officeDocument/2006/relationships/image" Target="/ppt/media/image6.png" Id="R955333ab8ce34274" /><Relationship Type="http://schemas.openxmlformats.org/officeDocument/2006/relationships/notesSlide" Target="/ppt/notesSlides/notesSlide5.xml" Id="R426d7d5581f74f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831cee4364e9e" /><Relationship Type="http://schemas.openxmlformats.org/officeDocument/2006/relationships/image" Target="/ppt/media/image7.png" Id="R961f41aa48864f94" /><Relationship Type="http://schemas.openxmlformats.org/officeDocument/2006/relationships/image" Target="/ppt/media/image8.png" Id="Rc37cdf8c8c5040ab" /><Relationship Type="http://schemas.openxmlformats.org/officeDocument/2006/relationships/image" Target="/ppt/media/image9.png" Id="Rcb9d3f2b07544e3b" /><Relationship Type="http://schemas.openxmlformats.org/officeDocument/2006/relationships/image" Target="/ppt/media/image10.png" Id="R8271464c25fc41c7" /><Relationship Type="http://schemas.openxmlformats.org/officeDocument/2006/relationships/notesSlide" Target="/ppt/notesSlides/notesSlide6.xml" Id="R17040b79d85746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d5da8e43647e1" /><Relationship Type="http://schemas.openxmlformats.org/officeDocument/2006/relationships/hyperlink" Target="https://play.google.com/store/apps/details?id=com.habitrpg.android.habitica&amp;hl=en" TargetMode="External" Id="Rf7ab157c325647bf" /><Relationship Type="http://schemas.openxmlformats.org/officeDocument/2006/relationships/hyperlink" Target="https://www.meetup.com/" TargetMode="External" Id="R5b1be96b35b542d5" /><Relationship Type="http://schemas.openxmlformats.org/officeDocument/2006/relationships/hyperlink" Target="https://www.meetup.com/blog/new-design-2025/" TargetMode="External" Id="Rb0de97ba38d94f30" /><Relationship Type="http://schemas.openxmlformats.org/officeDocument/2006/relationships/notesSlide" Target="/ppt/notesSlides/notesSlide7.xml" Id="R4b3e308b0abf4c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91D5B0E8-2774-4837-B00C-2CA1FCFB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067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700" b="0">
                <a:solidFill>
                  <a:srgbClr val="FFFFFF"/>
                </a:solidFill>
                <a:latin typeface="Inter Medium"/>
                <a:ea typeface="Inter Medium"/>
                <a:cs typeface="Inter Medium"/>
              </a:defRPr>
            </a:pPr>
            <a:r>
              <a:rPr sz="5700" b="0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Hobby Worlds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5E0E02D-8EF8-4E5A-A870-82B685B9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19375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Explore. Meet. Grow.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73AF74B-34E9-4AB3-AE42-948EF8E5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90925"/>
            <a:ext cx="666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D8D8D8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D8D8D8"/>
                </a:solidFill>
                <a:latin typeface="Inter"/>
                <a:ea typeface="Inter"/>
                <a:cs typeface="Inter"/>
              </a:rPr>
              <a:t>Социально-игровое приложение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D8D8D8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D8D8D8"/>
                </a:solidFill>
                <a:latin typeface="Inter"/>
                <a:ea typeface="Inter"/>
                <a:cs typeface="Inter"/>
              </a:rPr>
              <a:t>для старта новых увлечений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ec9edfbfa4c4e"/>
          <a:stretch xmlns:a="http://schemas.openxmlformats.org/drawingml/2006/main"/>
        </p:blipFill>
        <p:spPr>
          <a:xfrm xmlns:a="http://schemas.openxmlformats.org/drawingml/2006/main">
            <a:off x="8277225" y="1524000"/>
            <a:ext cx="3238500" cy="3238500"/>
          </a:xfrm>
          <a:prstGeom xmlns:a="http://schemas.openxmlformats.org/drawingml/2006/main" prst="rect">
            <a:avLst/>
          </a:prstGeom>
        </p:spPr>
      </p:pic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FDCCA40-581E-450A-9F2A-E45C907B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9700"/>
            <a:ext cx="662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Практическое занятие №1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Товарный знак и брендирование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B482A30-3AFC-446C-838E-C9FCC7D9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76950"/>
            <a:ext cx="9391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D8D8D8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D8D8D8"/>
                </a:solidFill>
                <a:latin typeface="Inter"/>
                <a:ea typeface="Inter"/>
                <a:cs typeface="Inter"/>
              </a:rPr>
              <a:t>Козлов Даниил и Ковалев Данила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D8D8D8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D8D8D8"/>
                </a:solidFill>
                <a:latin typeface="Inter"/>
                <a:ea typeface="Inter"/>
                <a:cs typeface="Inter"/>
              </a:rPr>
              <a:t>ЭФБО-08-23</a:t>
            </a:r>
          </a:p>
        </p:txBody>
      </p:sp>
    </p:spTree>
    <p:extLst>
      <p:ext uri="{BB962C8B-B14F-4D97-AF65-F5344CB8AC3E}">
        <p14:creationId xmlns:p14="http://schemas.microsoft.com/office/powerpoint/2010/main" val="1415670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6">
            <a:extLst xmlns:a="http://schemas.openxmlformats.org/drawingml/2006/main">
              <a:ext uri="{FF2B5EF4-FFF2-40B4-BE49-F238E27FC236}">
                <a16:creationId xmlns:a16="http://schemas.microsoft.com/office/drawing/2014/main" id="{0BD72BCD-21FF-4CAF-BEFE-19F30709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33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Идея и УТП</a:t>
            </a:r>
          </a:p>
        </p:txBody>
      </p:sp>
      <p:sp>
        <p:nvSpPr>
          <p:cNvPr id="2" name="text-7">
            <a:extLst xmlns:a="http://schemas.openxmlformats.org/drawingml/2006/main">
              <a:ext uri="{FF2B5EF4-FFF2-40B4-BE49-F238E27FC236}">
                <a16:creationId xmlns:a16="http://schemas.microsoft.com/office/drawing/2014/main" id="{5645614C-D736-40BE-BA0B-B7C1A7BD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21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Для кого</a:t>
            </a:r>
          </a:p>
        </p:txBody>
      </p:sp>
      <p:sp>
        <p:nvSpPr>
          <p:cNvPr id="3" name="text-8">
            <a:extLst xmlns:a="http://schemas.openxmlformats.org/drawingml/2006/main">
              <a:ext uri="{FF2B5EF4-FFF2-40B4-BE49-F238E27FC236}">
                <a16:creationId xmlns:a16="http://schemas.microsoft.com/office/drawing/2014/main" id="{8ECCBC7B-51A5-4B74-9379-484693EB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2325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Для людей, которые хотят начать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2325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новое хобби и найти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2325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единомышленников</a:t>
            </a:r>
          </a:p>
        </p:txBody>
      </p:sp>
      <p:sp>
        <p:nvSpPr>
          <p:cNvPr id="4" name="text-9">
            <a:extLst xmlns:a="http://schemas.openxmlformats.org/drawingml/2006/main">
              <a:ext uri="{FF2B5EF4-FFF2-40B4-BE49-F238E27FC236}">
                <a16:creationId xmlns:a16="http://schemas.microsoft.com/office/drawing/2014/main" id="{E5277F03-A472-4846-8E13-471095F1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38112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21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Что мешает начать</a:t>
            </a:r>
          </a:p>
        </p:txBody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136EC182-9928-4507-8FE2-26BBAEE7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24050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Неясно, с чего начать.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Не хватает компании.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Сложно заниматься регулярно.</a:t>
            </a:r>
          </a:p>
        </p:txBody>
      </p:sp>
      <p:sp>
        <p:nvSpPr>
          <p:cNvPr id="6" name="surface-11">
            <a:extLst xmlns:a="http://schemas.openxmlformats.org/drawingml/2006/main">
              <a:ext uri="{FF2B5EF4-FFF2-40B4-BE49-F238E27FC236}">
                <a16:creationId xmlns:a16="http://schemas.microsoft.com/office/drawing/2014/main" id="{B6EF7DA6-96EE-4FA7-8E13-3797BA12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48050"/>
            <a:ext cx="12192000" cy="273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9F0093DE-0B86-491A-8A16-81CF62E7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A67C32"/>
                </a:solidFill>
                <a:latin typeface="Inter Medium"/>
                <a:ea typeface="Inter Medium"/>
                <a:cs typeface="Inter Medium"/>
              </a:defRPr>
            </a:pPr>
            <a:r>
              <a:rPr sz="2025" b="0">
                <a:solidFill>
                  <a:srgbClr val="A67C32"/>
                </a:solidFill>
                <a:latin typeface="Inter Medium"/>
                <a:ea typeface="Inter Medium"/>
                <a:cs typeface="Inter Medium"/>
              </a:rPr>
              <a:t>Наше предложение</a:t>
            </a:r>
          </a:p>
        </p:txBody>
      </p:sp>
      <p:sp>
        <p:nvSpPr>
          <p:cNvPr id="8" name="text-13">
            <a:extLst xmlns:a="http://schemas.openxmlformats.org/drawingml/2006/main">
              <a:ext uri="{FF2B5EF4-FFF2-40B4-BE49-F238E27FC236}">
                <a16:creationId xmlns:a16="http://schemas.microsoft.com/office/drawing/2014/main" id="{B4DAEABC-CEAD-410D-98D8-3BE32B66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109347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Для людей, которые хотят начать новое хобби, мы создаём мобильное приложение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Hobby Worlds, которое помогает найти единомышленников и перейти к регулярным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занятиям, в отличие от самостоятельного поиска материалов и общения в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разрозненных чатах, потому что объединяет сообщества по интересам, совместные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цели и игровые достижения.</a:t>
            </a:r>
          </a:p>
        </p:txBody>
      </p:sp>
      <p:sp>
        <p:nvSpPr>
          <p:cNvPr id="9" name="text-14">
            <a:extLst xmlns:a="http://schemas.openxmlformats.org/drawingml/2006/main">
              <a:ext uri="{FF2B5EF4-FFF2-40B4-BE49-F238E27FC236}">
                <a16:creationId xmlns:a16="http://schemas.microsoft.com/office/drawing/2014/main" id="{FA2C275D-4E6F-4129-B211-04427F0E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6060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06060"/>
                </a:solidFill>
                <a:latin typeface="Inter"/>
                <a:ea typeface="Inter"/>
                <a:cs typeface="Inter"/>
              </a:rPr>
              <a:t>Концепция продукта</a:t>
            </a:r>
          </a:p>
        </p:txBody>
      </p:sp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D30F0FBE-62D0-4E4C-A6C2-C154D1B2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06060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06060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926005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6">
            <a:extLst xmlns:a="http://schemas.openxmlformats.org/drawingml/2006/main">
              <a:ext uri="{FF2B5EF4-FFF2-40B4-BE49-F238E27FC236}">
                <a16:creationId xmlns:a16="http://schemas.microsoft.com/office/drawing/2014/main" id="{BBB97B05-3BE1-478A-8FC8-DC3B70BF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0">
                <a:solidFill>
                  <a:srgbClr val="FFFFFF"/>
                </a:solidFill>
                <a:latin typeface="Inter Medium"/>
                <a:ea typeface="Inter Medium"/>
                <a:cs typeface="Inter Medium"/>
              </a:defRPr>
            </a:pPr>
            <a:r>
              <a:rPr sz="3300" b="0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Название и характер бренда</a:t>
            </a:r>
          </a:p>
        </p:txBody>
      </p:sp>
      <p:sp>
        <p:nvSpPr>
          <p:cNvPr id="2" name="text-17">
            <a:extLst xmlns:a="http://schemas.openxmlformats.org/drawingml/2006/main">
              <a:ext uri="{FF2B5EF4-FFF2-40B4-BE49-F238E27FC236}">
                <a16:creationId xmlns:a16="http://schemas.microsoft.com/office/drawing/2014/main" id="{F8023CF6-98EF-4CDE-BBD1-B77B6689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750" b="0">
                <a:solidFill>
                  <a:srgbClr val="A67C32"/>
                </a:solidFill>
                <a:latin typeface="Inter Medium"/>
                <a:ea typeface="Inter Medium"/>
                <a:cs typeface="Inter Medium"/>
              </a:defRPr>
            </a:pPr>
            <a:r>
              <a:rPr sz="3750" b="0">
                <a:solidFill>
                  <a:srgbClr val="A67C32"/>
                </a:solidFill>
                <a:latin typeface="Inter Medium"/>
                <a:ea typeface="Inter Medium"/>
                <a:cs typeface="Inter Medium"/>
              </a:rPr>
              <a:t>Explore.</a:t>
            </a:r>
          </a:p>
        </p:txBody>
      </p:sp>
      <p:sp>
        <p:nvSpPr>
          <p:cNvPr id="3" name="text-18">
            <a:extLst xmlns:a="http://schemas.openxmlformats.org/drawingml/2006/main">
              <a:ext uri="{FF2B5EF4-FFF2-40B4-BE49-F238E27FC236}">
                <a16:creationId xmlns:a16="http://schemas.microsoft.com/office/drawing/2014/main" id="{2E0AC409-1270-40B5-B36E-88B4A8F8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431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FFFFFF"/>
                </a:solidFill>
                <a:latin typeface="Inter Medium"/>
                <a:ea typeface="Inter Medium"/>
                <a:cs typeface="Inter Medium"/>
              </a:defRPr>
            </a:pPr>
            <a:r>
              <a:rPr sz="2025" b="0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Открывай увлечения</a:t>
            </a:r>
          </a:p>
        </p:txBody>
      </p:sp>
      <p:sp>
        <p:nvSpPr>
          <p:cNvPr id="4" name="text-19">
            <a:extLst xmlns:a="http://schemas.openxmlformats.org/drawingml/2006/main">
              <a:ext uri="{FF2B5EF4-FFF2-40B4-BE49-F238E27FC236}">
                <a16:creationId xmlns:a16="http://schemas.microsoft.com/office/drawing/2014/main" id="{2228D61F-73F4-4DC0-B78F-61ECD08A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3381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8D8D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D8D8D8"/>
                </a:solidFill>
                <a:latin typeface="Inter"/>
                <a:ea typeface="Inter"/>
                <a:cs typeface="Inter"/>
              </a:rPr>
              <a:t>Пробуй то, что давно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8D8D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D8D8D8"/>
                </a:solidFill>
                <a:latin typeface="Inter"/>
                <a:ea typeface="Inter"/>
                <a:cs typeface="Inter"/>
              </a:rPr>
              <a:t>хотел попробовать.</a:t>
            </a:r>
          </a:p>
        </p:txBody>
      </p:sp>
      <p:sp>
        <p:nvSpPr>
          <p:cNvPr id="5" name="text-20">
            <a:extLst xmlns:a="http://schemas.openxmlformats.org/drawingml/2006/main">
              <a:ext uri="{FF2B5EF4-FFF2-40B4-BE49-F238E27FC236}">
                <a16:creationId xmlns:a16="http://schemas.microsoft.com/office/drawing/2014/main" id="{D391625F-9AAE-431E-B412-5D03E955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811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750" b="0">
                <a:solidFill>
                  <a:srgbClr val="A67C32"/>
                </a:solidFill>
                <a:latin typeface="Inter Medium"/>
                <a:ea typeface="Inter Medium"/>
                <a:cs typeface="Inter Medium"/>
              </a:defRPr>
            </a:pPr>
            <a:r>
              <a:rPr sz="3750" b="0">
                <a:solidFill>
                  <a:srgbClr val="A67C32"/>
                </a:solidFill>
                <a:latin typeface="Inter Medium"/>
                <a:ea typeface="Inter Medium"/>
                <a:cs typeface="Inter Medium"/>
              </a:rPr>
              <a:t>Meet.</a:t>
            </a:r>
          </a:p>
        </p:txBody>
      </p:sp>
      <p:sp>
        <p:nvSpPr>
          <p:cNvPr id="6" name="text-21">
            <a:extLst xmlns:a="http://schemas.openxmlformats.org/drawingml/2006/main">
              <a:ext uri="{FF2B5EF4-FFF2-40B4-BE49-F238E27FC236}">
                <a16:creationId xmlns:a16="http://schemas.microsoft.com/office/drawing/2014/main" id="{7914EF76-2020-4377-8800-450C4EFE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431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FFFFFF"/>
                </a:solidFill>
                <a:latin typeface="Inter Medium"/>
                <a:ea typeface="Inter Medium"/>
                <a:cs typeface="Inter Medium"/>
              </a:defRPr>
            </a:pPr>
            <a:r>
              <a:rPr sz="2025" b="0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Знакомься с людьми</a:t>
            </a:r>
          </a:p>
        </p:txBody>
      </p:sp>
      <p:sp>
        <p:nvSpPr>
          <p:cNvPr id="7" name="text-22">
            <a:extLst xmlns:a="http://schemas.openxmlformats.org/drawingml/2006/main">
              <a:ext uri="{FF2B5EF4-FFF2-40B4-BE49-F238E27FC236}">
                <a16:creationId xmlns:a16="http://schemas.microsoft.com/office/drawing/2014/main" id="{DE99E4FB-1138-4094-A431-0EB0C396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3381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8D8D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D8D8D8"/>
                </a:solidFill>
                <a:latin typeface="Inter"/>
                <a:ea typeface="Inter"/>
                <a:cs typeface="Inter"/>
              </a:rPr>
              <a:t>Находи компанию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8D8D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D8D8D8"/>
                </a:solidFill>
                <a:latin typeface="Inter"/>
                <a:ea typeface="Inter"/>
                <a:cs typeface="Inter"/>
              </a:rPr>
              <a:t>по общим интересам.</a:t>
            </a:r>
          </a:p>
        </p:txBody>
      </p:sp>
      <p:sp>
        <p:nvSpPr>
          <p:cNvPr id="8" name="text-23">
            <a:extLst xmlns:a="http://schemas.openxmlformats.org/drawingml/2006/main">
              <a:ext uri="{FF2B5EF4-FFF2-40B4-BE49-F238E27FC236}">
                <a16:creationId xmlns:a16="http://schemas.microsoft.com/office/drawing/2014/main" id="{43B1D01B-2169-4471-B27C-363FC26C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750" b="0">
                <a:solidFill>
                  <a:srgbClr val="A67C32"/>
                </a:solidFill>
                <a:latin typeface="Inter Medium"/>
                <a:ea typeface="Inter Medium"/>
                <a:cs typeface="Inter Medium"/>
              </a:defRPr>
            </a:pPr>
            <a:r>
              <a:rPr sz="3750" b="0">
                <a:solidFill>
                  <a:srgbClr val="A67C32"/>
                </a:solidFill>
                <a:latin typeface="Inter Medium"/>
                <a:ea typeface="Inter Medium"/>
                <a:cs typeface="Inter Medium"/>
              </a:rPr>
              <a:t>Grow.</a:t>
            </a:r>
          </a:p>
        </p:txBody>
      </p:sp>
      <p:sp>
        <p:nvSpPr>
          <p:cNvPr id="9" name="text-24">
            <a:extLst xmlns:a="http://schemas.openxmlformats.org/drawingml/2006/main">
              <a:ext uri="{FF2B5EF4-FFF2-40B4-BE49-F238E27FC236}">
                <a16:creationId xmlns:a16="http://schemas.microsoft.com/office/drawing/2014/main" id="{F972A2B4-DA01-4570-A900-8665A064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FFFFFF"/>
                </a:solidFill>
                <a:latin typeface="Inter Medium"/>
                <a:ea typeface="Inter Medium"/>
                <a:cs typeface="Inter Medium"/>
              </a:defRPr>
            </a:pPr>
            <a:r>
              <a:rPr sz="2025" b="0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Развивай навыки</a:t>
            </a:r>
          </a:p>
        </p:txBody>
      </p:sp>
      <p:sp>
        <p:nvSpPr>
          <p:cNvPr id="10" name="text-25">
            <a:extLst xmlns:a="http://schemas.openxmlformats.org/drawingml/2006/main">
              <a:ext uri="{FF2B5EF4-FFF2-40B4-BE49-F238E27FC236}">
                <a16:creationId xmlns:a16="http://schemas.microsoft.com/office/drawing/2014/main" id="{2339986E-7DDD-4B91-B6C0-CAE46838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3381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8D8D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D8D8D8"/>
                </a:solidFill>
                <a:latin typeface="Inter"/>
                <a:ea typeface="Inter"/>
                <a:cs typeface="Inter"/>
              </a:rPr>
              <a:t>Занимайся вместе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8D8D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D8D8D8"/>
                </a:solidFill>
                <a:latin typeface="Inter"/>
                <a:ea typeface="Inter"/>
                <a:cs typeface="Inter"/>
              </a:rPr>
              <a:t>и отмечай прогресс.</a:t>
            </a:r>
          </a:p>
        </p:txBody>
      </p:sp>
      <p:sp>
        <p:nvSpPr>
          <p:cNvPr id="11" name="text-26">
            <a:extLst xmlns:a="http://schemas.openxmlformats.org/drawingml/2006/main">
              <a:ext uri="{FF2B5EF4-FFF2-40B4-BE49-F238E27FC236}">
                <a16:creationId xmlns:a16="http://schemas.microsoft.com/office/drawing/2014/main" id="{05BEB34F-891A-4A87-AFCD-95F515BA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FFFFFF"/>
                </a:solidFill>
                <a:latin typeface="Inter Medium"/>
                <a:ea typeface="Inter Medium"/>
                <a:cs typeface="Inter Medium"/>
              </a:defRPr>
            </a:pPr>
            <a:r>
              <a:rPr sz="2550" b="0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Hobby Worlds объединяет увлечения в общий мир</a:t>
            </a:r>
          </a:p>
        </p:txBody>
      </p:sp>
      <p:sp>
        <p:nvSpPr>
          <p:cNvPr id="12" name="text-27">
            <a:extLst xmlns:a="http://schemas.openxmlformats.org/drawingml/2006/main">
              <a:ext uri="{FF2B5EF4-FFF2-40B4-BE49-F238E27FC236}">
                <a16:creationId xmlns:a16="http://schemas.microsoft.com/office/drawing/2014/main" id="{49026E7D-3FD9-4D68-897B-5B051DE8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67325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FFFFFF"/>
                </a:solidFill>
                <a:latin typeface="Inter Medium"/>
                <a:ea typeface="Inter Medium"/>
                <a:cs typeface="Inter Medium"/>
              </a:defRPr>
            </a:pPr>
            <a:r>
              <a:rPr sz="2175" b="0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Современный, спокойный, дружелюбный</a:t>
            </a:r>
          </a:p>
        </p:txBody>
      </p:sp>
      <p:sp>
        <p:nvSpPr>
          <p:cNvPr id="13" name="text-28">
            <a:extLst xmlns:a="http://schemas.openxmlformats.org/drawingml/2006/main">
              <a:ext uri="{FF2B5EF4-FFF2-40B4-BE49-F238E27FC236}">
                <a16:creationId xmlns:a16="http://schemas.microsoft.com/office/drawing/2014/main" id="{A3B46250-7E13-4121-9065-83846FA5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801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D8D8D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D8D8D8"/>
                </a:solidFill>
                <a:latin typeface="Inter"/>
                <a:ea typeface="Inter"/>
                <a:cs typeface="Inter"/>
              </a:rPr>
              <a:t>Обращаемся на «ты», поддерживаем первые шаги и уважаем темп каждого.</a:t>
            </a:r>
          </a:p>
        </p:txBody>
      </p:sp>
      <p:sp>
        <p:nvSpPr>
          <p:cNvPr id="14" name="text-29">
            <a:extLst xmlns:a="http://schemas.openxmlformats.org/drawingml/2006/main">
              <a:ext uri="{FF2B5EF4-FFF2-40B4-BE49-F238E27FC236}">
                <a16:creationId xmlns:a16="http://schemas.microsoft.com/office/drawing/2014/main" id="{71CE1E9B-105C-4EF6-A3A7-AE706091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D8D8D8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D8D8D8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2851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30">
            <a:extLst xmlns:a="http://schemas.openxmlformats.org/drawingml/2006/main">
              <a:ext uri="{FF2B5EF4-FFF2-40B4-BE49-F238E27FC236}">
                <a16:creationId xmlns:a16="http://schemas.microsoft.com/office/drawing/2014/main" id="{1F2B6751-1781-4DC2-A1DA-4279EF22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33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Визуальная система</a:t>
            </a:r>
          </a:p>
        </p:txBody>
      </p:sp>
      <p:sp>
        <p:nvSpPr>
          <p:cNvPr id="2" name="surface-31">
            <a:extLst xmlns:a="http://schemas.openxmlformats.org/drawingml/2006/main">
              <a:ext uri="{FF2B5EF4-FFF2-40B4-BE49-F238E27FC236}">
                <a16:creationId xmlns:a16="http://schemas.microsoft.com/office/drawing/2014/main" id="{C1A685F3-8E8D-4711-9F0F-D464B0CB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260985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d24b5fe3f47eb"/>
          <a:stretch xmlns:a="http://schemas.openxmlformats.org/drawingml/2006/main"/>
        </p:blipFill>
        <p:spPr>
          <a:xfrm xmlns:a="http://schemas.openxmlformats.org/drawingml/2006/main">
            <a:off x="1143000" y="1590675"/>
            <a:ext cx="1543050" cy="1543050"/>
          </a:xfrm>
          <a:prstGeom xmlns:a="http://schemas.openxmlformats.org/drawingml/2006/main" prst="rect">
            <a:avLst/>
          </a:prstGeom>
        </p:spPr>
      </p:pic>
      <p:sp>
        <p:nvSpPr>
          <p:cNvPr id="4" name="text-32">
            <a:extLst xmlns:a="http://schemas.openxmlformats.org/drawingml/2006/main">
              <a:ext uri="{FF2B5EF4-FFF2-40B4-BE49-F238E27FC236}">
                <a16:creationId xmlns:a16="http://schemas.microsoft.com/office/drawing/2014/main" id="{0846B876-28D1-453B-8D89-F3CF57D9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52800"/>
            <a:ext cx="24384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0">
                <a:solidFill>
                  <a:srgbClr val="FFFFFF"/>
                </a:solidFill>
                <a:latin typeface="Inter Medium"/>
                <a:ea typeface="Inter Medium"/>
                <a:cs typeface="Inter Medium"/>
              </a:defRPr>
            </a:pPr>
            <a:r>
              <a:rPr sz="2025" b="0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Hobby Worlds</a:t>
            </a:r>
          </a:p>
        </p:txBody>
      </p:sp>
      <p:sp>
        <p:nvSpPr>
          <p:cNvPr id="5" name="text-33">
            <a:extLst xmlns:a="http://schemas.openxmlformats.org/drawingml/2006/main">
              <a:ext uri="{FF2B5EF4-FFF2-40B4-BE49-F238E27FC236}">
                <a16:creationId xmlns:a16="http://schemas.microsoft.com/office/drawing/2014/main" id="{2BEE4C0A-A815-4423-BEE4-68698F3B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38563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33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33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Explore. Meet. Grow.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3746b44654241"/>
          <a:stretch xmlns:a="http://schemas.openxmlformats.org/drawingml/2006/main"/>
        </p:blipFill>
        <p:spPr>
          <a:xfrm xmlns:a="http://schemas.openxmlformats.org/drawingml/2006/main">
            <a:off x="3752850" y="1590675"/>
            <a:ext cx="1543050" cy="1543050"/>
          </a:xfrm>
          <a:prstGeom xmlns:a="http://schemas.openxmlformats.org/drawingml/2006/main" prst="rect">
            <a:avLst/>
          </a:prstGeom>
        </p:spPr>
      </p:pic>
      <p:sp>
        <p:nvSpPr>
          <p:cNvPr id="7" name="text-34">
            <a:extLst xmlns:a="http://schemas.openxmlformats.org/drawingml/2006/main">
              <a:ext uri="{FF2B5EF4-FFF2-40B4-BE49-F238E27FC236}">
                <a16:creationId xmlns:a16="http://schemas.microsoft.com/office/drawing/2014/main" id="{1411F3DB-F591-48AF-8794-057F73BD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352800"/>
            <a:ext cx="24384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2025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Hobby Worlds</a:t>
            </a:r>
          </a:p>
        </p:txBody>
      </p:sp>
      <p:sp>
        <p:nvSpPr>
          <p:cNvPr id="8" name="text-35">
            <a:extLst xmlns:a="http://schemas.openxmlformats.org/drawingml/2006/main">
              <a:ext uri="{FF2B5EF4-FFF2-40B4-BE49-F238E27FC236}">
                <a16:creationId xmlns:a16="http://schemas.microsoft.com/office/drawing/2014/main" id="{C0F20167-0730-4648-B701-5B47A534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738563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33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1033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Explore. Meet. Grow.</a:t>
            </a:r>
          </a:p>
        </p:txBody>
      </p:sp>
      <p:sp>
        <p:nvSpPr>
          <p:cNvPr id="9" name="text-36">
            <a:extLst xmlns:a="http://schemas.openxmlformats.org/drawingml/2006/main">
              <a:ext uri="{FF2B5EF4-FFF2-40B4-BE49-F238E27FC236}">
                <a16:creationId xmlns:a16="http://schemas.microsoft.com/office/drawing/2014/main" id="{C587D24C-5D27-4307-BF33-720E87C7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5105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195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Земля как общий мир людей 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195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увлечений</a:t>
            </a:r>
          </a:p>
        </p:txBody>
      </p:sp>
      <p:sp>
        <p:nvSpPr>
          <p:cNvPr id="10" name="text-37">
            <a:extLst xmlns:a="http://schemas.openxmlformats.org/drawingml/2006/main">
              <a:ext uri="{FF2B5EF4-FFF2-40B4-BE49-F238E27FC236}">
                <a16:creationId xmlns:a16="http://schemas.microsoft.com/office/drawing/2014/main" id="{B2A50359-6ED0-43C8-8F7B-A742CE44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81150"/>
            <a:ext cx="502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2625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Inter Medium 500</a:t>
            </a:r>
          </a:p>
        </p:txBody>
      </p:sp>
      <p:sp>
        <p:nvSpPr>
          <p:cNvPr id="11" name="text-38">
            <a:extLst xmlns:a="http://schemas.openxmlformats.org/drawingml/2006/main">
              <a:ext uri="{FF2B5EF4-FFF2-40B4-BE49-F238E27FC236}">
                <a16:creationId xmlns:a16="http://schemas.microsoft.com/office/drawing/2014/main" id="{0AE7AF09-FC4B-4991-B572-75248DB4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52650"/>
            <a:ext cx="500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2025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Заголовки / Hobby Worlds</a:t>
            </a:r>
          </a:p>
        </p:txBody>
      </p:sp>
      <p:sp>
        <p:nvSpPr>
          <p:cNvPr id="12" name="text-39">
            <a:extLst xmlns:a="http://schemas.openxmlformats.org/drawingml/2006/main">
              <a:ext uri="{FF2B5EF4-FFF2-40B4-BE49-F238E27FC236}">
                <a16:creationId xmlns:a16="http://schemas.microsoft.com/office/drawing/2014/main" id="{F09F05A0-08A0-463C-A730-2649181F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33700"/>
            <a:ext cx="5029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2625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Inter Regular 400</a:t>
            </a:r>
          </a:p>
        </p:txBody>
      </p:sp>
      <p:sp>
        <p:nvSpPr>
          <p:cNvPr id="13" name="text-40">
            <a:extLst xmlns:a="http://schemas.openxmlformats.org/drawingml/2006/main">
              <a:ext uri="{FF2B5EF4-FFF2-40B4-BE49-F238E27FC236}">
                <a16:creationId xmlns:a16="http://schemas.microsoft.com/office/drawing/2014/main" id="{9BB9D66A-B505-49C7-8875-397156F9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05200"/>
            <a:ext cx="500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Основной текст / Начни сегодня</a:t>
            </a:r>
          </a:p>
        </p:txBody>
      </p:sp>
      <p:sp>
        <p:nvSpPr>
          <p:cNvPr id="14" name="text-41">
            <a:extLst xmlns:a="http://schemas.openxmlformats.org/drawingml/2006/main">
              <a:ext uri="{FF2B5EF4-FFF2-40B4-BE49-F238E27FC236}">
                <a16:creationId xmlns:a16="http://schemas.microsoft.com/office/drawing/2014/main" id="{CC2E7875-9F50-473B-955B-4D5E87C6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67200"/>
            <a:ext cx="500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06060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606060"/>
                </a:solidFill>
                <a:latin typeface="Inter"/>
                <a:ea typeface="Inter"/>
                <a:cs typeface="Inter"/>
              </a:rPr>
              <a:t>Кириллица и латиница</a:t>
            </a:r>
          </a:p>
        </p:txBody>
      </p:sp>
      <p:sp>
        <p:nvSpPr>
          <p:cNvPr id="15" name="surface-42">
            <a:extLst xmlns:a="http://schemas.openxmlformats.org/drawingml/2006/main">
              <a:ext uri="{FF2B5EF4-FFF2-40B4-BE49-F238E27FC236}">
                <a16:creationId xmlns:a16="http://schemas.microsoft.com/office/drawing/2014/main" id="{DD8D78B8-4C6F-4B16-9E01-68D43DC1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866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16" name="text-43">
            <a:extLst xmlns:a="http://schemas.openxmlformats.org/drawingml/2006/main">
              <a:ext uri="{FF2B5EF4-FFF2-40B4-BE49-F238E27FC236}">
                <a16:creationId xmlns:a16="http://schemas.microsoft.com/office/drawing/2014/main" id="{946A9687-706A-4BF6-A72A-34B89A20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165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Чёрный</a:t>
            </a:r>
          </a:p>
        </p:txBody>
      </p:sp>
      <p:sp>
        <p:nvSpPr>
          <p:cNvPr id="17" name="text-44">
            <a:extLst xmlns:a="http://schemas.openxmlformats.org/drawingml/2006/main">
              <a:ext uri="{FF2B5EF4-FFF2-40B4-BE49-F238E27FC236}">
                <a16:creationId xmlns:a16="http://schemas.microsoft.com/office/drawing/2014/main" id="{10B2A17F-BFD4-44B7-A590-98A8FEF9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6060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606060"/>
                </a:solidFill>
                <a:latin typeface="Inter"/>
                <a:ea typeface="Inter"/>
                <a:cs typeface="Inter"/>
              </a:rPr>
              <a:t>#101010</a:t>
            </a:r>
          </a:p>
        </p:txBody>
      </p:sp>
      <p:sp>
        <p:nvSpPr>
          <p:cNvPr id="18" name="surface-45">
            <a:extLst xmlns:a="http://schemas.openxmlformats.org/drawingml/2006/main">
              <a:ext uri="{FF2B5EF4-FFF2-40B4-BE49-F238E27FC236}">
                <a16:creationId xmlns:a16="http://schemas.microsoft.com/office/drawing/2014/main" id="{CC2C124D-5A11-40BD-91D9-3D9EC34B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86400"/>
            <a:ext cx="1866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19" name="text-46">
            <a:extLst xmlns:a="http://schemas.openxmlformats.org/drawingml/2006/main">
              <a:ext uri="{FF2B5EF4-FFF2-40B4-BE49-F238E27FC236}">
                <a16:creationId xmlns:a16="http://schemas.microsoft.com/office/drawing/2014/main" id="{40901E89-5972-4A41-8B81-F8A012DC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531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165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Белый</a:t>
            </a:r>
          </a:p>
        </p:txBody>
      </p:sp>
      <p:sp>
        <p:nvSpPr>
          <p:cNvPr id="20" name="text-47">
            <a:extLst xmlns:a="http://schemas.openxmlformats.org/drawingml/2006/main">
              <a:ext uri="{FF2B5EF4-FFF2-40B4-BE49-F238E27FC236}">
                <a16:creationId xmlns:a16="http://schemas.microsoft.com/office/drawing/2014/main" id="{688E9A36-833B-4B34-8720-04E4E7B3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769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6060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606060"/>
                </a:solidFill>
                <a:latin typeface="Inter"/>
                <a:ea typeface="Inter"/>
                <a:cs typeface="Inter"/>
              </a:rPr>
              <a:t>#FFFFFF</a:t>
            </a:r>
          </a:p>
        </p:txBody>
      </p:sp>
      <p:sp>
        <p:nvSpPr>
          <p:cNvPr id="21" name="surface-48">
            <a:extLst xmlns:a="http://schemas.openxmlformats.org/drawingml/2006/main">
              <a:ext uri="{FF2B5EF4-FFF2-40B4-BE49-F238E27FC236}">
                <a16:creationId xmlns:a16="http://schemas.microsoft.com/office/drawing/2014/main" id="{117F1027-8843-40FF-B5DC-84EEC01A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86400"/>
            <a:ext cx="1866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7C32"/>
          </a:solidFill>
          <a:ln xmlns:a="http://schemas.openxmlformats.org/drawingml/2006/main" w="0">
            <a:noFill/>
          </a:ln>
        </p:spPr>
      </p:sp>
      <p:sp>
        <p:nvSpPr>
          <p:cNvPr id="22" name="text-49">
            <a:extLst xmlns:a="http://schemas.openxmlformats.org/drawingml/2006/main">
              <a:ext uri="{FF2B5EF4-FFF2-40B4-BE49-F238E27FC236}">
                <a16:creationId xmlns:a16="http://schemas.microsoft.com/office/drawing/2014/main" id="{C3B1C8D5-3E65-407C-AC58-BFC45D0B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531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165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Тёмная охра</a:t>
            </a:r>
          </a:p>
        </p:txBody>
      </p:sp>
      <p:sp>
        <p:nvSpPr>
          <p:cNvPr id="23" name="text-50">
            <a:extLst xmlns:a="http://schemas.openxmlformats.org/drawingml/2006/main">
              <a:ext uri="{FF2B5EF4-FFF2-40B4-BE49-F238E27FC236}">
                <a16:creationId xmlns:a16="http://schemas.microsoft.com/office/drawing/2014/main" id="{8E90535D-5500-4A8B-ACAA-814FD6D5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769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6060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606060"/>
                </a:solidFill>
                <a:latin typeface="Inter"/>
                <a:ea typeface="Inter"/>
                <a:cs typeface="Inter"/>
              </a:rPr>
              <a:t>#A67C32</a:t>
            </a:r>
          </a:p>
        </p:txBody>
      </p:sp>
      <p:sp>
        <p:nvSpPr>
          <p:cNvPr id="24" name="text-51">
            <a:extLst xmlns:a="http://schemas.openxmlformats.org/drawingml/2006/main">
              <a:ext uri="{FF2B5EF4-FFF2-40B4-BE49-F238E27FC236}">
                <a16:creationId xmlns:a16="http://schemas.microsoft.com/office/drawing/2014/main" id="{192B8FE1-5A9A-42DE-A03F-85E0E4E7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95925"/>
            <a:ext cx="3962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Охра выделяет акценты.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Чёрный и белый задают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светлую и тёмную темы.</a:t>
            </a:r>
          </a:p>
        </p:txBody>
      </p:sp>
      <p:sp>
        <p:nvSpPr>
          <p:cNvPr id="25" name="text-52">
            <a:extLst xmlns:a="http://schemas.openxmlformats.org/drawingml/2006/main">
              <a:ext uri="{FF2B5EF4-FFF2-40B4-BE49-F238E27FC236}">
                <a16:creationId xmlns:a16="http://schemas.microsoft.com/office/drawing/2014/main" id="{7C806EDE-FA25-498E-8B42-7DC28A0F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06060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06060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022061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53">
            <a:extLst xmlns:a="http://schemas.openxmlformats.org/drawingml/2006/main">
              <a:ext uri="{FF2B5EF4-FFF2-40B4-BE49-F238E27FC236}">
                <a16:creationId xmlns:a16="http://schemas.microsoft.com/office/drawing/2014/main" id="{1AB9EC14-B143-4DB8-BF32-0D6E9ED1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0">
                <a:solidFill>
                  <a:srgbClr val="FFFFFF"/>
                </a:solidFill>
                <a:latin typeface="Inter Medium"/>
                <a:ea typeface="Inter Medium"/>
                <a:cs typeface="Inter Medium"/>
              </a:defRPr>
            </a:pPr>
            <a:r>
              <a:rPr sz="3300" b="0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Примеры применения</a:t>
            </a:r>
          </a:p>
        </p:txBody>
      </p:sp>
      <p:sp>
        <p:nvSpPr>
          <p:cNvPr id="2" name="text-54">
            <a:extLst xmlns:a="http://schemas.openxmlformats.org/drawingml/2006/main">
              <a:ext uri="{FF2B5EF4-FFF2-40B4-BE49-F238E27FC236}">
                <a16:creationId xmlns:a16="http://schemas.microsoft.com/office/drawing/2014/main" id="{7D61FD3E-82D9-48A1-98A4-C02F8EB2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FFFFFF"/>
                </a:solidFill>
                <a:latin typeface="Inter Medium"/>
                <a:ea typeface="Inter Medium"/>
                <a:cs typeface="Inter Medium"/>
              </a:defRPr>
            </a:pPr>
            <a:r>
              <a:rPr sz="2100" b="0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Иконка приложения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2a45446f849cc"/>
          <a:stretch xmlns:a="http://schemas.openxmlformats.org/drawingml/2006/main"/>
        </p:blipFill>
        <p:spPr>
          <a:xfrm xmlns:a="http://schemas.openxmlformats.org/drawingml/2006/main">
            <a:off x="609600" y="2266950"/>
            <a:ext cx="1857375" cy="1857375"/>
          </a:xfrm>
          <a:prstGeom xmlns:a="http://schemas.openxmlformats.org/drawingml/2006/main" prst="roundRect">
            <a:avLst>
              <a:gd name="adj" fmla="val 12308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0403368ad4a86"/>
          <a:stretch xmlns:a="http://schemas.openxmlformats.org/drawingml/2006/main"/>
        </p:blipFill>
        <p:spPr>
          <a:xfrm xmlns:a="http://schemas.openxmlformats.org/drawingml/2006/main">
            <a:off x="2733675" y="2266950"/>
            <a:ext cx="1857375" cy="1857375"/>
          </a:xfrm>
          <a:prstGeom xmlns:a="http://schemas.openxmlformats.org/drawingml/2006/main" prst="roundRect">
            <a:avLst>
              <a:gd name="adj" fmla="val 12308"/>
            </a:avLst>
          </a:prstGeom>
        </p:spPr>
      </p:pic>
      <p:sp>
        <p:nvSpPr>
          <p:cNvPr id="5" name="text-55">
            <a:extLst xmlns:a="http://schemas.openxmlformats.org/drawingml/2006/main">
              <a:ext uri="{FF2B5EF4-FFF2-40B4-BE49-F238E27FC236}">
                <a16:creationId xmlns:a16="http://schemas.microsoft.com/office/drawing/2014/main" id="{F1D881A8-D801-48C3-8195-D14D9A7E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895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D8D8D8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D8D8D8"/>
                </a:solidFill>
                <a:latin typeface="Inter"/>
                <a:ea typeface="Inter"/>
                <a:cs typeface="Inter"/>
              </a:rPr>
              <a:t>Тёмная тема</a:t>
            </a:r>
          </a:p>
        </p:txBody>
      </p:sp>
      <p:sp>
        <p:nvSpPr>
          <p:cNvPr id="6" name="text-56">
            <a:extLst xmlns:a="http://schemas.openxmlformats.org/drawingml/2006/main">
              <a:ext uri="{FF2B5EF4-FFF2-40B4-BE49-F238E27FC236}">
                <a16:creationId xmlns:a16="http://schemas.microsoft.com/office/drawing/2014/main" id="{69BB5FC0-D069-4ADA-85A2-FD270AAD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324350"/>
            <a:ext cx="1924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D8D8D8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D8D8D8"/>
                </a:solidFill>
                <a:latin typeface="Inter"/>
                <a:ea typeface="Inter"/>
                <a:cs typeface="Inter"/>
              </a:rPr>
              <a:t>Светлая тема</a:t>
            </a:r>
          </a:p>
        </p:txBody>
      </p:sp>
      <p:sp>
        <p:nvSpPr>
          <p:cNvPr id="7" name="text-57">
            <a:extLst xmlns:a="http://schemas.openxmlformats.org/drawingml/2006/main">
              <a:ext uri="{FF2B5EF4-FFF2-40B4-BE49-F238E27FC236}">
                <a16:creationId xmlns:a16="http://schemas.microsoft.com/office/drawing/2014/main" id="{52D6A556-9753-4B31-9998-7F77D769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00650"/>
            <a:ext cx="4076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В иконке оставляем только знак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Земли.</a:t>
            </a:r>
          </a:p>
        </p:txBody>
      </p:sp>
      <p:sp>
        <p:nvSpPr>
          <p:cNvPr id="8" name="text-58">
            <a:extLst xmlns:a="http://schemas.openxmlformats.org/drawingml/2006/main">
              <a:ext uri="{FF2B5EF4-FFF2-40B4-BE49-F238E27FC236}">
                <a16:creationId xmlns:a16="http://schemas.microsoft.com/office/drawing/2014/main" id="{7BFCA130-20B2-47B3-9DC3-66F5DF1A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495425"/>
            <a:ext cx="614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FFFFFF"/>
                </a:solidFill>
                <a:latin typeface="Inter Medium"/>
                <a:ea typeface="Inter Medium"/>
                <a:cs typeface="Inter Medium"/>
              </a:defRPr>
            </a:pPr>
            <a:r>
              <a:rPr sz="2100" b="0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Баннер приложения</a:t>
            </a:r>
          </a:p>
        </p:txBody>
      </p:sp>
      <p:sp>
        <p:nvSpPr>
          <p:cNvPr id="9" name="surface-59">
            <a:extLst xmlns:a="http://schemas.openxmlformats.org/drawingml/2006/main">
              <a:ext uri="{FF2B5EF4-FFF2-40B4-BE49-F238E27FC236}">
                <a16:creationId xmlns:a16="http://schemas.microsoft.com/office/drawing/2014/main" id="{C35F2DF7-9083-41D2-B65C-B350D814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43125"/>
            <a:ext cx="615315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333ab8ce34274"/>
          <a:stretch xmlns:a="http://schemas.openxmlformats.org/drawingml/2006/main"/>
        </p:blipFill>
        <p:spPr>
          <a:xfrm xmlns:a="http://schemas.openxmlformats.org/drawingml/2006/main">
            <a:off x="10553700" y="238125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11" name="text-60">
            <a:extLst xmlns:a="http://schemas.openxmlformats.org/drawingml/2006/main">
              <a:ext uri="{FF2B5EF4-FFF2-40B4-BE49-F238E27FC236}">
                <a16:creationId xmlns:a16="http://schemas.microsoft.com/office/drawing/2014/main" id="{39FCFE08-A465-4C18-A577-92B5FCD0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6220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21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Hobby Worlds</a:t>
            </a:r>
          </a:p>
        </p:txBody>
      </p:sp>
      <p:sp>
        <p:nvSpPr>
          <p:cNvPr id="12" name="text-61">
            <a:extLst xmlns:a="http://schemas.openxmlformats.org/drawingml/2006/main">
              <a:ext uri="{FF2B5EF4-FFF2-40B4-BE49-F238E27FC236}">
                <a16:creationId xmlns:a16="http://schemas.microsoft.com/office/drawing/2014/main" id="{CA246EB3-8968-4EBD-B615-3894DFC0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71800"/>
            <a:ext cx="5581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285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Открой свой мир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85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285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увлечений</a:t>
            </a:r>
          </a:p>
        </p:txBody>
      </p:sp>
      <p:sp>
        <p:nvSpPr>
          <p:cNvPr id="13" name="text-62">
            <a:extLst xmlns:a="http://schemas.openxmlformats.org/drawingml/2006/main">
              <a:ext uri="{FF2B5EF4-FFF2-40B4-BE49-F238E27FC236}">
                <a16:creationId xmlns:a16="http://schemas.microsoft.com/office/drawing/2014/main" id="{50B017B7-4FE1-41DF-96B2-B16E4088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772025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Explore. Meet. Grow.</a:t>
            </a:r>
          </a:p>
        </p:txBody>
      </p:sp>
      <p:sp>
        <p:nvSpPr>
          <p:cNvPr id="14" name="surface-63">
            <a:extLst xmlns:a="http://schemas.openxmlformats.org/drawingml/2006/main">
              <a:ext uri="{FF2B5EF4-FFF2-40B4-BE49-F238E27FC236}">
                <a16:creationId xmlns:a16="http://schemas.microsoft.com/office/drawing/2014/main" id="{B0AB0A1F-8A7D-4DD9-9A3A-F700DF2B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181600"/>
            <a:ext cx="13525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7C32"/>
          </a:solidFill>
          <a:ln xmlns:a="http://schemas.openxmlformats.org/drawingml/2006/main" w="0">
            <a:noFill/>
          </a:ln>
        </p:spPr>
      </p:sp>
      <p:sp>
        <p:nvSpPr>
          <p:cNvPr id="15" name="text-64">
            <a:extLst xmlns:a="http://schemas.openxmlformats.org/drawingml/2006/main">
              <a:ext uri="{FF2B5EF4-FFF2-40B4-BE49-F238E27FC236}">
                <a16:creationId xmlns:a16="http://schemas.microsoft.com/office/drawing/2014/main" id="{72F2F934-C837-4F84-A1D1-FBBC8ED8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2197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15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Начать</a:t>
            </a:r>
          </a:p>
        </p:txBody>
      </p:sp>
      <p:sp>
        <p:nvSpPr>
          <p:cNvPr id="16" name="text-65">
            <a:extLst xmlns:a="http://schemas.openxmlformats.org/drawingml/2006/main">
              <a:ext uri="{FF2B5EF4-FFF2-40B4-BE49-F238E27FC236}">
                <a16:creationId xmlns:a16="http://schemas.microsoft.com/office/drawing/2014/main" id="{AB137583-39A7-41FD-94D0-CFD5F375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981700"/>
            <a:ext cx="6143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D8D8D8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D8D8D8"/>
                </a:solidFill>
                <a:latin typeface="Inter"/>
                <a:ea typeface="Inter"/>
                <a:cs typeface="Inter"/>
              </a:rPr>
              <a:t>Эскизы применения фирменного стиля</a:t>
            </a:r>
          </a:p>
        </p:txBody>
      </p:sp>
      <p:sp>
        <p:nvSpPr>
          <p:cNvPr id="17" name="text-66">
            <a:extLst xmlns:a="http://schemas.openxmlformats.org/drawingml/2006/main">
              <a:ext uri="{FF2B5EF4-FFF2-40B4-BE49-F238E27FC236}">
                <a16:creationId xmlns:a16="http://schemas.microsoft.com/office/drawing/2014/main" id="{D03C86E6-BA03-496B-8D62-A2B0C830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D8D8D8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D8D8D8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445458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urface-67">
            <a:extLst xmlns:a="http://schemas.openxmlformats.org/drawingml/2006/main">
              <a:ext uri="{FF2B5EF4-FFF2-40B4-BE49-F238E27FC236}">
                <a16:creationId xmlns:a16="http://schemas.microsoft.com/office/drawing/2014/main" id="{820CB9DE-E86F-4FCD-982C-2E59F399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48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f41aa48864f94"/>
          <a:stretch xmlns:a="http://schemas.openxmlformats.org/drawingml/2006/main"/>
        </p:blipFill>
        <p:spPr>
          <a:xfrm xmlns:a="http://schemas.openxmlformats.org/drawingml/2006/main">
            <a:off x="1047750" y="361950"/>
            <a:ext cx="2171700" cy="2171700"/>
          </a:xfrm>
          <a:prstGeom xmlns:a="http://schemas.openxmlformats.org/drawingml/2006/main" prst="rect">
            <a:avLst/>
          </a:prstGeom>
        </p:spPr>
      </p:pic>
      <p:sp>
        <p:nvSpPr>
          <p:cNvPr id="3" name="text-68">
            <a:extLst xmlns:a="http://schemas.openxmlformats.org/drawingml/2006/main">
              <a:ext uri="{FF2B5EF4-FFF2-40B4-BE49-F238E27FC236}">
                <a16:creationId xmlns:a16="http://schemas.microsoft.com/office/drawing/2014/main" id="{6E44F0C2-C98B-4731-87A3-25483FFC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724150"/>
            <a:ext cx="3790950" cy="580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150" b="0">
                <a:solidFill>
                  <a:srgbClr val="FFFFFF"/>
                </a:solidFill>
                <a:latin typeface="Inter Medium"/>
                <a:ea typeface="Inter Medium"/>
                <a:cs typeface="Inter Medium"/>
              </a:defRPr>
            </a:pPr>
            <a:r>
              <a:rPr sz="3150" b="0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Hobby Worlds</a:t>
            </a:r>
          </a:p>
        </p:txBody>
      </p:sp>
      <p:sp>
        <p:nvSpPr>
          <p:cNvPr id="4" name="text-69">
            <a:extLst xmlns:a="http://schemas.openxmlformats.org/drawingml/2006/main">
              <a:ext uri="{FF2B5EF4-FFF2-40B4-BE49-F238E27FC236}">
                <a16:creationId xmlns:a16="http://schemas.microsoft.com/office/drawing/2014/main" id="{D1E461BD-BC47-4F2E-A13A-3030548B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324225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7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07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Explore. Meet. Grow.</a:t>
            </a:r>
          </a:p>
        </p:txBody>
      </p:sp>
      <p:sp>
        <p:nvSpPr>
          <p:cNvPr id="5" name="text-70">
            <a:extLst xmlns:a="http://schemas.openxmlformats.org/drawingml/2006/main">
              <a:ext uri="{FF2B5EF4-FFF2-40B4-BE49-F238E27FC236}">
                <a16:creationId xmlns:a16="http://schemas.microsoft.com/office/drawing/2014/main" id="{24EACA5D-3BFD-4E01-B5A5-C14F99D5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800475"/>
            <a:ext cx="356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Открывай. Знакомься.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Развивайся.</a:t>
            </a:r>
          </a:p>
        </p:txBody>
      </p:sp>
      <p:sp>
        <p:nvSpPr>
          <p:cNvPr id="6" name="text-71">
            <a:extLst xmlns:a="http://schemas.openxmlformats.org/drawingml/2006/main">
              <a:ext uri="{FF2B5EF4-FFF2-40B4-BE49-F238E27FC236}">
                <a16:creationId xmlns:a16="http://schemas.microsoft.com/office/drawing/2014/main" id="{9F8EF707-9B20-4E0C-9543-D4F7DADA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10125"/>
            <a:ext cx="3409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Социально-игровое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мобильное приложение для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старта новых увлечений</a:t>
            </a:r>
          </a:p>
        </p:txBody>
      </p:sp>
      <p:sp>
        <p:nvSpPr>
          <p:cNvPr id="7" name="text-72">
            <a:extLst xmlns:a="http://schemas.openxmlformats.org/drawingml/2006/main">
              <a:ext uri="{FF2B5EF4-FFF2-40B4-BE49-F238E27FC236}">
                <a16:creationId xmlns:a16="http://schemas.microsoft.com/office/drawing/2014/main" id="{0DEC1364-9189-48F7-9098-698052C4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99122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0">
                <a:solidFill>
                  <a:srgbClr val="FFFFFF"/>
                </a:solidFill>
                <a:latin typeface="Inter Medium"/>
                <a:ea typeface="Inter Medium"/>
                <a:cs typeface="Inter Medium"/>
              </a:defRPr>
            </a:pPr>
            <a:r>
              <a:rPr sz="1725" b="0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Современный, спокойный,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725" b="0">
                <a:solidFill>
                  <a:srgbClr val="FFFFFF"/>
                </a:solidFill>
                <a:latin typeface="Inter Medium"/>
                <a:ea typeface="Inter Medium"/>
                <a:cs typeface="Inter Medium"/>
              </a:defRPr>
            </a:pPr>
            <a:r>
              <a:rPr sz="1725" b="0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дружелюбный</a:t>
            </a:r>
          </a:p>
        </p:txBody>
      </p:sp>
      <p:sp>
        <p:nvSpPr>
          <p:cNvPr id="8" name="text-73">
            <a:extLst xmlns:a="http://schemas.openxmlformats.org/drawingml/2006/main">
              <a:ext uri="{FF2B5EF4-FFF2-40B4-BE49-F238E27FC236}">
                <a16:creationId xmlns:a16="http://schemas.microsoft.com/office/drawing/2014/main" id="{8FDAD42E-D91E-42B8-9832-27C37FAD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2925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Бренд проекта</a:t>
            </a:r>
          </a:p>
        </p:txBody>
      </p:sp>
      <p:sp>
        <p:nvSpPr>
          <p:cNvPr id="9" name="text-74">
            <a:extLst xmlns:a="http://schemas.openxmlformats.org/drawingml/2006/main">
              <a:ext uri="{FF2B5EF4-FFF2-40B4-BE49-F238E27FC236}">
                <a16:creationId xmlns:a16="http://schemas.microsoft.com/office/drawing/2014/main" id="{580E2A8F-7D43-4C4A-94D9-8E5823A2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066800"/>
            <a:ext cx="687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18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Уникальное торговое предложение</a:t>
            </a:r>
          </a:p>
        </p:txBody>
      </p:sp>
      <p:sp>
        <p:nvSpPr>
          <p:cNvPr id="10" name="text-75">
            <a:extLst xmlns:a="http://schemas.openxmlformats.org/drawingml/2006/main">
              <a:ext uri="{FF2B5EF4-FFF2-40B4-BE49-F238E27FC236}">
                <a16:creationId xmlns:a16="http://schemas.microsoft.com/office/drawing/2014/main" id="{779C92CB-99CD-43F4-B6BD-661A3FDD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24000"/>
            <a:ext cx="69342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Для людей, которые хотят начать новое хобби, мы создаём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мобильное приложение Hobby Worlds, которое помогает найти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единомышленников и перейти к регулярным занятиям, в отличие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от самостоятельного поиска материалов и общения в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разрозненных чатах, потому что объединяет сообщества по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интересам, совместные цели и игровые достижения.</a:t>
            </a:r>
          </a:p>
        </p:txBody>
      </p:sp>
      <p:sp>
        <p:nvSpPr>
          <p:cNvPr id="11" name="text-76">
            <a:extLst xmlns:a="http://schemas.openxmlformats.org/drawingml/2006/main">
              <a:ext uri="{FF2B5EF4-FFF2-40B4-BE49-F238E27FC236}">
                <a16:creationId xmlns:a16="http://schemas.microsoft.com/office/drawing/2014/main" id="{16D78F8E-5CB3-4B08-8103-5D2FCBD4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8140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18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Фирменные цвета</a:t>
            </a:r>
          </a:p>
        </p:txBody>
      </p:sp>
      <p:sp>
        <p:nvSpPr>
          <p:cNvPr id="12" name="surface-77">
            <a:extLst xmlns:a="http://schemas.openxmlformats.org/drawingml/2006/main">
              <a:ext uri="{FF2B5EF4-FFF2-40B4-BE49-F238E27FC236}">
                <a16:creationId xmlns:a16="http://schemas.microsoft.com/office/drawing/2014/main" id="{BBB745BC-FD9E-45DF-AABF-713D14BB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19550"/>
            <a:ext cx="1922907" cy="343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sp>
        <p:nvSpPr>
          <p:cNvPr id="13" name="text-78">
            <a:extLst xmlns:a="http://schemas.openxmlformats.org/drawingml/2006/main">
              <a:ext uri="{FF2B5EF4-FFF2-40B4-BE49-F238E27FC236}">
                <a16:creationId xmlns:a16="http://schemas.microsoft.com/office/drawing/2014/main" id="{545CD1D5-0BE0-4E41-9D82-61C0B209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00277"/>
            <a:ext cx="2079879" cy="313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17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Чёрный</a:t>
            </a:r>
          </a:p>
        </p:txBody>
      </p:sp>
      <p:sp>
        <p:nvSpPr>
          <p:cNvPr id="14" name="text-79">
            <a:extLst xmlns:a="http://schemas.openxmlformats.org/drawingml/2006/main">
              <a:ext uri="{FF2B5EF4-FFF2-40B4-BE49-F238E27FC236}">
                <a16:creationId xmlns:a16="http://schemas.microsoft.com/office/drawing/2014/main" id="{FA14A90A-DC3C-4BF5-9D00-7115B962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33842"/>
            <a:ext cx="2060258" cy="2747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68" b="0">
                <a:solidFill>
                  <a:srgbClr val="606060"/>
                </a:solidFill>
                <a:latin typeface="Inter"/>
                <a:ea typeface="Inter"/>
                <a:cs typeface="Inter"/>
              </a:defRPr>
            </a:pPr>
            <a:r>
              <a:rPr sz="1468" b="0">
                <a:solidFill>
                  <a:srgbClr val="606060"/>
                </a:solidFill>
                <a:latin typeface="Inter"/>
                <a:ea typeface="Inter"/>
                <a:cs typeface="Inter"/>
              </a:rPr>
              <a:t>#101010</a:t>
            </a:r>
          </a:p>
        </p:txBody>
      </p:sp>
      <p:sp>
        <p:nvSpPr>
          <p:cNvPr id="15" name="surface-80">
            <a:extLst xmlns:a="http://schemas.openxmlformats.org/drawingml/2006/main">
              <a:ext uri="{FF2B5EF4-FFF2-40B4-BE49-F238E27FC236}">
                <a16:creationId xmlns:a16="http://schemas.microsoft.com/office/drawing/2014/main" id="{2081309E-0179-4E1A-9835-1E31499B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01" y="4019550"/>
            <a:ext cx="1922907" cy="343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</a:ln>
        </p:spPr>
      </p:sp>
      <p:sp>
        <p:nvSpPr>
          <p:cNvPr id="16" name="text-81">
            <a:extLst xmlns:a="http://schemas.openxmlformats.org/drawingml/2006/main">
              <a:ext uri="{FF2B5EF4-FFF2-40B4-BE49-F238E27FC236}">
                <a16:creationId xmlns:a16="http://schemas.microsoft.com/office/drawing/2014/main" id="{107F006F-472A-4239-8B37-DD509A90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01" y="4500277"/>
            <a:ext cx="2079879" cy="313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17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Белый</a:t>
            </a:r>
          </a:p>
        </p:txBody>
      </p:sp>
      <p:sp>
        <p:nvSpPr>
          <p:cNvPr id="17" name="text-82">
            <a:extLst xmlns:a="http://schemas.openxmlformats.org/drawingml/2006/main">
              <a:ext uri="{FF2B5EF4-FFF2-40B4-BE49-F238E27FC236}">
                <a16:creationId xmlns:a16="http://schemas.microsoft.com/office/drawing/2014/main" id="{4A3E0115-0006-44E4-9CA3-72F9C509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01" y="4833842"/>
            <a:ext cx="2060258" cy="2747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68" b="0">
                <a:solidFill>
                  <a:srgbClr val="606060"/>
                </a:solidFill>
                <a:latin typeface="Inter"/>
                <a:ea typeface="Inter"/>
                <a:cs typeface="Inter"/>
              </a:defRPr>
            </a:pPr>
            <a:r>
              <a:rPr sz="1468" b="0">
                <a:solidFill>
                  <a:srgbClr val="606060"/>
                </a:solidFill>
                <a:latin typeface="Inter"/>
                <a:ea typeface="Inter"/>
                <a:cs typeface="Inter"/>
              </a:rPr>
              <a:t>#FFFFFF</a:t>
            </a:r>
          </a:p>
        </p:txBody>
      </p:sp>
      <p:sp>
        <p:nvSpPr>
          <p:cNvPr id="18" name="surface-83">
            <a:extLst xmlns:a="http://schemas.openxmlformats.org/drawingml/2006/main">
              <a:ext uri="{FF2B5EF4-FFF2-40B4-BE49-F238E27FC236}">
                <a16:creationId xmlns:a16="http://schemas.microsoft.com/office/drawing/2014/main" id="{4F523FF1-1FE3-4101-9F57-1B67E4C4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952" y="4019550"/>
            <a:ext cx="1922907" cy="343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7C32"/>
          </a:solidFill>
          <a:ln xmlns:a="http://schemas.openxmlformats.org/drawingml/2006/main" w="0">
            <a:noFill/>
          </a:ln>
        </p:spPr>
      </p:sp>
      <p:sp>
        <p:nvSpPr>
          <p:cNvPr id="19" name="text-84">
            <a:extLst xmlns:a="http://schemas.openxmlformats.org/drawingml/2006/main">
              <a:ext uri="{FF2B5EF4-FFF2-40B4-BE49-F238E27FC236}">
                <a16:creationId xmlns:a16="http://schemas.microsoft.com/office/drawing/2014/main" id="{B583F02B-78A2-42B1-B2EA-D7512658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952" y="4500277"/>
            <a:ext cx="2079879" cy="313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17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Тёмная охра</a:t>
            </a:r>
          </a:p>
        </p:txBody>
      </p:sp>
      <p:sp>
        <p:nvSpPr>
          <p:cNvPr id="20" name="text-85">
            <a:extLst xmlns:a="http://schemas.openxmlformats.org/drawingml/2006/main">
              <a:ext uri="{FF2B5EF4-FFF2-40B4-BE49-F238E27FC236}">
                <a16:creationId xmlns:a16="http://schemas.microsoft.com/office/drawing/2014/main" id="{2A889EF5-4F75-4E1D-A6CA-19E9D68A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952" y="4833842"/>
            <a:ext cx="2060258" cy="2747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68" b="0">
                <a:solidFill>
                  <a:srgbClr val="606060"/>
                </a:solidFill>
                <a:latin typeface="Inter"/>
                <a:ea typeface="Inter"/>
                <a:cs typeface="Inter"/>
              </a:defRPr>
            </a:pPr>
            <a:r>
              <a:rPr sz="1468" b="0">
                <a:solidFill>
                  <a:srgbClr val="606060"/>
                </a:solidFill>
                <a:latin typeface="Inter"/>
                <a:ea typeface="Inter"/>
                <a:cs typeface="Inter"/>
              </a:rPr>
              <a:t>#A67C32</a:t>
            </a:r>
          </a:p>
        </p:txBody>
      </p:sp>
      <p:sp>
        <p:nvSpPr>
          <p:cNvPr id="21" name="text-86">
            <a:extLst xmlns:a="http://schemas.openxmlformats.org/drawingml/2006/main">
              <a:ext uri="{FF2B5EF4-FFF2-40B4-BE49-F238E27FC236}">
                <a16:creationId xmlns:a16="http://schemas.microsoft.com/office/drawing/2014/main" id="{6E88920A-65B2-484E-ABFC-E1D3E990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959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195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Inter Medium 500</a:t>
            </a:r>
          </a:p>
        </p:txBody>
      </p:sp>
      <p:sp>
        <p:nvSpPr>
          <p:cNvPr id="22" name="text-87">
            <a:extLst xmlns:a="http://schemas.openxmlformats.org/drawingml/2006/main">
              <a:ext uri="{FF2B5EF4-FFF2-40B4-BE49-F238E27FC236}">
                <a16:creationId xmlns:a16="http://schemas.microsoft.com/office/drawing/2014/main" id="{9D68BB73-8DE9-4202-9481-D124213A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6769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1725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Aa Бб 0123</a:t>
            </a:r>
          </a:p>
        </p:txBody>
      </p:sp>
      <p:sp>
        <p:nvSpPr>
          <p:cNvPr id="23" name="text-88">
            <a:extLst xmlns:a="http://schemas.openxmlformats.org/drawingml/2006/main">
              <a:ext uri="{FF2B5EF4-FFF2-40B4-BE49-F238E27FC236}">
                <a16:creationId xmlns:a16="http://schemas.microsoft.com/office/drawing/2014/main" id="{2BB74180-50D3-4FB0-A415-951E918E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959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Inter Regular 400</a:t>
            </a:r>
          </a:p>
        </p:txBody>
      </p:sp>
      <p:sp>
        <p:nvSpPr>
          <p:cNvPr id="24" name="text-89">
            <a:extLst xmlns:a="http://schemas.openxmlformats.org/drawingml/2006/main">
              <a:ext uri="{FF2B5EF4-FFF2-40B4-BE49-F238E27FC236}">
                <a16:creationId xmlns:a16="http://schemas.microsoft.com/office/drawing/2014/main" id="{8C93741A-AEFA-4BBA-9597-9DDF7CA5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769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Aa Бб 0123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cdf8c8c5040ab"/>
          <a:stretch xmlns:a="http://schemas.openxmlformats.org/drawingml/2006/main"/>
        </p:blipFill>
        <p:spPr>
          <a:xfrm xmlns:a="http://schemas.openxmlformats.org/drawingml/2006/main">
            <a:off x="4667250" y="6200775"/>
            <a:ext cx="457200" cy="457200"/>
          </a:xfrm>
          <a:prstGeom xmlns:a="http://schemas.openxmlformats.org/drawingml/2006/main" prst="roundRect">
            <a:avLst>
              <a:gd name="adj" fmla="val 19000"/>
            </a:avLst>
          </a:prstGeom>
        </p:spPr>
      </p:pic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d3f2b07544e3b"/>
          <a:stretch xmlns:a="http://schemas.openxmlformats.org/drawingml/2006/main"/>
        </p:blipFill>
        <p:spPr>
          <a:xfrm xmlns:a="http://schemas.openxmlformats.org/drawingml/2006/main">
            <a:off x="5219700" y="6200775"/>
            <a:ext cx="457200" cy="457200"/>
          </a:xfrm>
          <a:prstGeom xmlns:a="http://schemas.openxmlformats.org/drawingml/2006/main" prst="roundRect">
            <a:avLst>
              <a:gd name="adj" fmla="val 19000"/>
            </a:avLst>
          </a:prstGeom>
        </p:spPr>
      </p:pic>
      <p:sp>
        <p:nvSpPr>
          <p:cNvPr id="27" name="text-90">
            <a:extLst xmlns:a="http://schemas.openxmlformats.org/drawingml/2006/main">
              <a:ext uri="{FF2B5EF4-FFF2-40B4-BE49-F238E27FC236}">
                <a16:creationId xmlns:a16="http://schemas.microsoft.com/office/drawing/2014/main" id="{10D614C9-23B4-4996-B3B1-101F5B03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286500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6060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06060"/>
                </a:solidFill>
                <a:latin typeface="Inter"/>
                <a:ea typeface="Inter"/>
                <a:cs typeface="Inter"/>
              </a:rPr>
              <a:t>Иконка</a:t>
            </a:r>
          </a:p>
        </p:txBody>
      </p:sp>
      <p:sp>
        <p:nvSpPr>
          <p:cNvPr id="28" name="surface-91">
            <a:extLst xmlns:a="http://schemas.openxmlformats.org/drawingml/2006/main">
              <a:ext uri="{FF2B5EF4-FFF2-40B4-BE49-F238E27FC236}">
                <a16:creationId xmlns:a16="http://schemas.microsoft.com/office/drawing/2014/main" id="{D169C144-A308-4B26-A943-073136F1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6172200"/>
            <a:ext cx="4238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1464c25fc41c7"/>
          <a:stretch xmlns:a="http://schemas.openxmlformats.org/drawingml/2006/main"/>
        </p:blipFill>
        <p:spPr>
          <a:xfrm xmlns:a="http://schemas.openxmlformats.org/drawingml/2006/main">
            <a:off x="11049000" y="62579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0" name="text-92">
            <a:extLst xmlns:a="http://schemas.openxmlformats.org/drawingml/2006/main">
              <a:ext uri="{FF2B5EF4-FFF2-40B4-BE49-F238E27FC236}">
                <a16:creationId xmlns:a16="http://schemas.microsoft.com/office/drawing/2014/main" id="{D22E4B4E-C2D9-4C38-99ED-5A31A4DD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2388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FFFFFF"/>
                </a:solidFill>
                <a:latin typeface="Inter Medium"/>
                <a:ea typeface="Inter Medium"/>
                <a:cs typeface="Inter Medium"/>
              </a:defRPr>
            </a:pPr>
            <a:r>
              <a:rPr sz="1650" b="0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Hobby Worlds</a:t>
            </a:r>
          </a:p>
        </p:txBody>
      </p:sp>
      <p:sp>
        <p:nvSpPr>
          <p:cNvPr id="31" name="text-93">
            <a:extLst xmlns:a="http://schemas.openxmlformats.org/drawingml/2006/main">
              <a:ext uri="{FF2B5EF4-FFF2-40B4-BE49-F238E27FC236}">
                <a16:creationId xmlns:a16="http://schemas.microsoft.com/office/drawing/2014/main" id="{B9272A4D-25E1-452B-BC1A-DCDFFFD9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3143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Explore. Meet. Grow.</a:t>
            </a:r>
          </a:p>
        </p:txBody>
      </p:sp>
    </p:spTree>
    <p:extLst>
      <p:ext uri="{BB962C8B-B14F-4D97-AF65-F5344CB8AC3E}">
        <p14:creationId xmlns:p14="http://schemas.microsoft.com/office/powerpoint/2010/main" val="15246379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94">
            <a:extLst xmlns:a="http://schemas.openxmlformats.org/drawingml/2006/main">
              <a:ext uri="{FF2B5EF4-FFF2-40B4-BE49-F238E27FC236}">
                <a16:creationId xmlns:a16="http://schemas.microsoft.com/office/drawing/2014/main" id="{324778F8-29E8-4BCA-838C-6CDCEAB6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3300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Аналоги и позиционирование</a:t>
            </a:r>
          </a:p>
        </p:txBody>
      </p:sp>
      <p:sp>
        <p:nvSpPr>
          <p:cNvPr id="2" name="text-95">
            <a:extLst xmlns:a="http://schemas.openxmlformats.org/drawingml/2006/main">
              <a:ext uri="{FF2B5EF4-FFF2-40B4-BE49-F238E27FC236}">
                <a16:creationId xmlns:a16="http://schemas.microsoft.com/office/drawing/2014/main" id="{95909FC4-1A5F-4F86-8568-938BDAB7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15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6060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06060"/>
                </a:solidFill>
                <a:latin typeface="Inter"/>
                <a:ea typeface="Inter"/>
                <a:cs typeface="Inter"/>
              </a:rPr>
              <a:t>Приложение к защите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81175"/>
          <a:ext xmlns:a="http://schemas.openxmlformats.org/drawingml/2006/main" cx="10953750" cy="2847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476750"/>
                <a:gridCol w="4476750"/>
              </a:tblGrid>
              <a:tr h="561975">
                <a:tc>
                  <a:txBody>
                    <a:bodyPr wrap="square" lIns="171450" tIns="142875" rIns="171450" bIns="1428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Продукт</a:t>
                      </a:r>
                    </a:p>
                  </a:txBody>
                  <a:tcPr marL="91440" marR="91440" marT="45720" marB="45720" anchor="ctr">
                    <a:solidFill>
                      <a:srgbClr val="101010"/>
                    </a:solidFill>
                  </a:tcPr>
                </a:tc>
                <a:tc>
                  <a:txBody>
                    <a:bodyPr wrap="square" lIns="171450" tIns="142875" rIns="171450" bIns="1428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Акцент продукта</a:t>
                      </a:r>
                    </a:p>
                  </a:txBody>
                  <a:tcPr marL="91440" marR="91440" marT="45720" marB="45720" anchor="ctr">
                    <a:solidFill>
                      <a:srgbClr val="101010"/>
                    </a:solidFill>
                  </a:tcPr>
                </a:tc>
                <a:tc>
                  <a:txBody>
                    <a:bodyPr wrap="square" lIns="171450" tIns="142875" rIns="171450" bIns="1428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Визуальный язык</a:t>
                      </a:r>
                    </a:p>
                  </a:txBody>
                  <a:tcPr marL="91440" marR="91440" marT="45720" marB="45720" anchor="ctr">
                    <a:solidFill>
                      <a:srgbClr val="101010"/>
                    </a:solidFill>
                  </a:tcPr>
                </a:tc>
              </a:tr>
              <a:tr h="1143000">
                <a:tc>
                  <a:txBody>
                    <a:bodyPr wrap="square" lIns="171450" tIns="142875" rIns="171450" bIns="1428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010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Habitica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42875" rIns="171450" bIns="1428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010"/>
                          </a:solidFill>
                          <a:latin typeface="Inter"/>
                          <a:ea typeface="Inter"/>
                          <a:cs typeface="Inter"/>
                        </a:rPr>
                        <a:t>Привычки и задачи через игровые награды и совместные испытания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42875" rIns="171450" bIns="1428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010"/>
                          </a:solidFill>
                          <a:latin typeface="Inter"/>
                          <a:ea typeface="Inter"/>
                          <a:cs typeface="Inter"/>
                        </a:rPr>
                        <a:t>Ретро-RPG, пиксельные персонажи и игровые предметы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wrap="square" lIns="171450" tIns="142875" rIns="171450" bIns="1428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010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Meetup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42875" rIns="171450" bIns="1428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010"/>
                          </a:solidFill>
                          <a:latin typeface="Inter"/>
                          <a:ea typeface="Inter"/>
                          <a:cs typeface="Inter"/>
                        </a:rPr>
                        <a:t>Поиск групп, событий и людей с общими интересами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42875" rIns="171450" bIns="1428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1010"/>
                          </a:solidFill>
                          <a:latin typeface="Inter"/>
                          <a:ea typeface="Inter"/>
                          <a:cs typeface="Inter"/>
                        </a:rPr>
                        <a:t>Яркая палитра, фотографии людей, иллюстрации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96">
            <a:extLst xmlns:a="http://schemas.openxmlformats.org/drawingml/2006/main">
              <a:ext uri="{FF2B5EF4-FFF2-40B4-BE49-F238E27FC236}">
                <a16:creationId xmlns:a16="http://schemas.microsoft.com/office/drawing/2014/main" id="{5AC1ADBD-D999-4493-871C-94CA7325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01010"/>
                </a:solidFill>
                <a:latin typeface="Inter Medium"/>
                <a:ea typeface="Inter Medium"/>
                <a:cs typeface="Inter Medium"/>
              </a:defRPr>
            </a:pPr>
            <a:r>
              <a:rPr sz="2175" b="0">
                <a:solidFill>
                  <a:srgbClr val="101010"/>
                </a:solidFill>
                <a:latin typeface="Inter Medium"/>
                <a:ea typeface="Inter Medium"/>
                <a:cs typeface="Inter Medium"/>
              </a:rPr>
              <a:t>Акцент Hobby Worlds</a:t>
            </a:r>
          </a:p>
        </p:txBody>
      </p:sp>
      <p:sp>
        <p:nvSpPr>
          <p:cNvPr id="5" name="text-97">
            <a:extLst xmlns:a="http://schemas.openxmlformats.org/drawingml/2006/main">
              <a:ext uri="{FF2B5EF4-FFF2-40B4-BE49-F238E27FC236}">
                <a16:creationId xmlns:a16="http://schemas.microsoft.com/office/drawing/2014/main" id="{0927CB48-DA6A-49F2-8B42-AF6EA28E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72125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1010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01010"/>
                </a:solidFill>
                <a:latin typeface="Inter"/>
                <a:ea typeface="Inter"/>
                <a:cs typeface="Inter"/>
              </a:rPr>
              <a:t>Начало нового хобби в сообществе с общими целями и игровыми достижениями.</a:t>
            </a:r>
          </a:p>
        </p:txBody>
      </p:sp>
      <p:sp>
        <p:nvSpPr>
          <p:cNvPr id="6" name="text-98">
            <a:extLst xmlns:a="http://schemas.openxmlformats.org/drawingml/2006/main">
              <a:ext uri="{FF2B5EF4-FFF2-40B4-BE49-F238E27FC236}">
                <a16:creationId xmlns:a16="http://schemas.microsoft.com/office/drawing/2014/main" id="{2262D1DA-6DC8-4F4A-8B67-BE6A0266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2276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6060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06060"/>
                </a:solidFill>
                <a:latin typeface="Inter"/>
                <a:ea typeface="Inter"/>
                <a:cs typeface="Inter"/>
                <a:hlinkClick xmlns:r="http://schemas.openxmlformats.org/officeDocument/2006/relationships" r:id="Rf7ab157c325647bf"/>
              </a:rPr>
              <a:t>Описание Habitica</a:t>
            </a:r>
          </a:p>
        </p:txBody>
      </p:sp>
      <p:sp>
        <p:nvSpPr>
          <p:cNvPr id="7" name="text-99">
            <a:extLst xmlns:a="http://schemas.openxmlformats.org/drawingml/2006/main">
              <a:ext uri="{FF2B5EF4-FFF2-40B4-BE49-F238E27FC236}">
                <a16:creationId xmlns:a16="http://schemas.microsoft.com/office/drawing/2014/main" id="{624967DE-1D70-4025-9292-CF74B7E0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4008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6060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06060"/>
                </a:solidFill>
                <a:latin typeface="Inter"/>
                <a:ea typeface="Inter"/>
                <a:cs typeface="Inter"/>
                <a:hlinkClick xmlns:r="http://schemas.openxmlformats.org/officeDocument/2006/relationships" r:id="R5b1be96b35b542d5"/>
              </a:rPr>
              <a:t>Платформа Meetup</a:t>
            </a:r>
          </a:p>
        </p:txBody>
      </p:sp>
      <p:sp>
        <p:nvSpPr>
          <p:cNvPr id="8" name="text-100">
            <a:extLst xmlns:a="http://schemas.openxmlformats.org/drawingml/2006/main">
              <a:ext uri="{FF2B5EF4-FFF2-40B4-BE49-F238E27FC236}">
                <a16:creationId xmlns:a16="http://schemas.microsoft.com/office/drawing/2014/main" id="{E70FC1A0-29B8-4166-892E-5917C031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64008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06060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06060"/>
                </a:solidFill>
                <a:latin typeface="Inter"/>
                <a:ea typeface="Inter"/>
                <a:cs typeface="Inter"/>
                <a:hlinkClick xmlns:r="http://schemas.openxmlformats.org/officeDocument/2006/relationships" r:id="Rb0de97ba38d94f30"/>
              </a:rPr>
              <a:t>Дизайн Meetup</a:t>
            </a:r>
          </a:p>
        </p:txBody>
      </p:sp>
    </p:spTree>
    <p:extLst>
      <p:ext uri="{BB962C8B-B14F-4D97-AF65-F5344CB8AC3E}">
        <p14:creationId xmlns:p14="http://schemas.microsoft.com/office/powerpoint/2010/main" val="83226760"/>
      </p:ext>
    </p:extLst>
  </p:cSld>
</p:sld>
</file>

<file path=ppt/theme/theme1.xml><?xml version="1.0" encoding="utf-8"?>
<a:theme xmlns:a="http://schemas.openxmlformats.org/drawingml/2006/main" name="ChatGPT">
  <a:themeElements>
    <a:clrScheme name="Hobby Worlds">
      <a:dk1>
        <a:srgbClr val="101010"/>
      </a:dk1>
      <a:lt1>
        <a:srgbClr val="FFFFFF"/>
      </a:lt1>
      <a:dk2>
        <a:srgbClr val="101010"/>
      </a:dk2>
      <a:lt2>
        <a:srgbClr val="F5F5F5"/>
      </a:lt2>
      <a:accent1>
        <a:srgbClr val="A67C32"/>
      </a:accent1>
      <a:accent2>
        <a:srgbClr val="101010"/>
      </a:accent2>
      <a:accent3>
        <a:srgbClr val="FFFFFF"/>
      </a:accent3>
      <a:accent4>
        <a:srgbClr val="A67C32"/>
      </a:accent4>
      <a:accent5>
        <a:srgbClr val="101010"/>
      </a:accent5>
      <a:accent6>
        <a:srgbClr val="FFFFFF"/>
      </a:accent6>
      <a:hlink>
        <a:srgbClr val="A67C32"/>
      </a:hlink>
      <a:folHlink>
        <a:srgbClr val="A67C3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Hobby World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2026-09-11T12:41:57.2870000Z</dcterms:created>
  <dcterms:modified xsi:type="dcterms:W3CDTF">2026-09-11T12:41:57.2870000Z</dcterms:modified>
</coreProperties>
</file>